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660"/>
  </p:normalViewPr>
  <p:slideViewPr>
    <p:cSldViewPr snapToGrid="0">
      <p:cViewPr>
        <p:scale>
          <a:sx n="100" d="100"/>
          <a:sy n="100" d="100"/>
        </p:scale>
        <p:origin x="120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63BA9-11CA-0B81-166E-69D0CB07E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59B5DC-EAD2-BD08-6190-42A72B832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CF5F6-95A9-AB04-56F1-D912FA3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7708E6-06A2-F038-15EC-AC690121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534235-5B3B-0B40-D74A-0C2C4119A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37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01541-7960-56B9-57C4-D8F46D78D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DA1BE6-5275-354B-E07C-8F03CDFC5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A2B0E4-40DA-EF69-32AF-A6F9EB7A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F1C4D-725B-0881-31C8-6495539F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FE0491-143C-392A-ED93-D78D95500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25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0B7D9-73D2-BF26-2A66-11138E84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B28EDA-E8FD-A1D1-3C74-E2CC8C1E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87A4B-399C-C3C8-DD5D-37F6884CB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8B0E1-0FFB-10DE-A484-722A3E33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82DC42-CB0D-4D95-9BF0-D673D86B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51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BE702-0174-F93F-EF89-BA028A05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7C5A1B-9D41-B901-72FC-F443D5188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B64F1A-D029-0D7F-8C19-3C620C38C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7CFA5D-E4D8-BE9E-05F0-8F8392FB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6A83BB-4887-8ED8-C7CB-D8869786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400934-2803-3286-A123-F8051281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80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B9D6-7162-5AF1-929F-7AC3B2AE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4023F-A233-7598-1F5A-74C7D51CF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E1D7E3-8EEE-3038-3821-526E60829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400426-ACEA-8432-C904-4B1E9399D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72FC58-FE9F-B226-B3A0-902A02543A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6DD437-481E-F94A-12C8-6471D411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EC0CF4-FEFC-CD36-D7C2-7A523637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4CAD2F-E28C-0CB1-C495-BBA577C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48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D54B2-389E-88FE-C0F3-831BB997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2D7B23-7304-335E-4703-7CE4E5229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57C8AD-4971-9563-D92A-449FA1EA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A2FE0-6C10-55AA-513B-BB6B897B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3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DB7A33C-55CF-AE50-07A1-492981F0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D3D1E0-C0A8-7C7C-40D1-413E8815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A2FEDE-1736-9A34-977E-22173406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83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67E7C-603B-5249-D72D-51D40E505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0A97FF-6492-B455-4C68-B8B1B96CF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F4D467-DA5F-1D82-711D-034F07578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A1EDFE-294A-284C-234D-0928FEF2C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46F68-3D63-8FD8-CD58-5E22E556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A1926D-C669-C2FF-65EE-62C90523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55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40928-A3E1-CCF7-3A30-100549D3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EA976FB-9AF4-9B1F-6170-AF494FB52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8A4753-04D5-97B2-D5FA-3551373BF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D7AE2-8DAA-C974-8EF3-C69E9308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DA31F2-B082-9A79-42E9-C2808ED9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A31F7-B32C-BAF1-4EB5-165951E3C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9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C0E320-2021-CDBC-103B-4FDC84B0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60FBE1-CE6B-FB1B-EBAC-14E7BD926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5992B-F87E-7C2B-A929-31C0FD7A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2619AD-3D8C-E7AA-F631-DFB7A167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68C829-D4AB-8127-DE26-2AE3A445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58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DEC047-7BAF-9CF4-F93B-248975B8D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E60C4A-DED3-538B-EBE5-E882C75B9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A07E02-D913-FB3A-91B2-83EDA8DA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E60F8-C768-43C3-78A7-90DE647E9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9F910A-0283-9D35-AE8D-46EA0763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812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0A938F-B731-144B-02E5-7A370C68D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40A669-7507-7CBB-065E-AC507A2CD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CABF37-9636-B6EB-52DD-8926EA6FF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A9953-C510-4033-9FC8-846120520E68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6DA504-9381-11C7-AAAF-E1FA326DC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296A56-9F32-C8C6-BC52-FE492A31D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18C68-54E8-4D06-85F4-CA06BB26C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02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08C37FF-1D0D-8A0C-FA12-1F93B849857F}"/>
              </a:ext>
            </a:extLst>
          </p:cNvPr>
          <p:cNvGrpSpPr/>
          <p:nvPr/>
        </p:nvGrpSpPr>
        <p:grpSpPr>
          <a:xfrm>
            <a:off x="4763" y="4763"/>
            <a:ext cx="11494510" cy="5859863"/>
            <a:chOff x="4763" y="4763"/>
            <a:chExt cx="11494510" cy="5859863"/>
          </a:xfrm>
        </p:grpSpPr>
        <p:pic>
          <p:nvPicPr>
            <p:cNvPr id="1026" name="그림 1">
              <a:extLst>
                <a:ext uri="{FF2B5EF4-FFF2-40B4-BE49-F238E27FC236}">
                  <a16:creationId xmlns:a16="http://schemas.microsoft.com/office/drawing/2014/main" id="{77598626-D998-FC80-B858-3CE13E5C26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" y="4763"/>
              <a:ext cx="11392910" cy="585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F1140AB-A7F0-932D-A6B1-5EE08D0FE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1214"/>
            <a:stretch>
              <a:fillRect/>
            </a:stretch>
          </p:blipFill>
          <p:spPr>
            <a:xfrm>
              <a:off x="7208417" y="2142837"/>
              <a:ext cx="4290856" cy="3069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722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그림 1">
            <a:extLst>
              <a:ext uri="{FF2B5EF4-FFF2-40B4-BE49-F238E27FC236}">
                <a16:creationId xmlns:a16="http://schemas.microsoft.com/office/drawing/2014/main" id="{AED77CEE-C3AB-835F-31B1-1E2DCC641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4"/>
            <a:ext cx="12301272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18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그림 3">
            <a:extLst>
              <a:ext uri="{FF2B5EF4-FFF2-40B4-BE49-F238E27FC236}">
                <a16:creationId xmlns:a16="http://schemas.microsoft.com/office/drawing/2014/main" id="{27716E63-6F13-8483-7C68-5FB232517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6350"/>
            <a:ext cx="10602896" cy="4029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86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그림 1">
            <a:extLst>
              <a:ext uri="{FF2B5EF4-FFF2-40B4-BE49-F238E27FC236}">
                <a16:creationId xmlns:a16="http://schemas.microsoft.com/office/drawing/2014/main" id="{06D1B65F-63C3-5CAE-795B-562CBC9B8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3175"/>
            <a:ext cx="10110643" cy="563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681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그림 1">
            <a:extLst>
              <a:ext uri="{FF2B5EF4-FFF2-40B4-BE49-F238E27FC236}">
                <a16:creationId xmlns:a16="http://schemas.microsoft.com/office/drawing/2014/main" id="{A273854C-1B1E-7690-A43F-95E472784E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2"/>
          <a:stretch>
            <a:fillRect/>
          </a:stretch>
        </p:blipFill>
        <p:spPr bwMode="auto">
          <a:xfrm>
            <a:off x="4764" y="328835"/>
            <a:ext cx="6275964" cy="3319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그림 1">
            <a:extLst>
              <a:ext uri="{FF2B5EF4-FFF2-40B4-BE49-F238E27FC236}">
                <a16:creationId xmlns:a16="http://schemas.microsoft.com/office/drawing/2014/main" id="{7C3C6D78-093C-E79D-1140-755928F3B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1843" y="328835"/>
            <a:ext cx="3718208" cy="3155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540F56-4DBE-B37F-B85E-6DB43EF62F01}"/>
              </a:ext>
            </a:extLst>
          </p:cNvPr>
          <p:cNvSpPr txBox="1"/>
          <p:nvPr/>
        </p:nvSpPr>
        <p:spPr>
          <a:xfrm>
            <a:off x="6251034" y="3619849"/>
            <a:ext cx="3892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 Retardation Slow Axis Orientation near Laser Drilled Holes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23223D-2582-4E61-163F-D4D2E5C58D85}"/>
              </a:ext>
            </a:extLst>
          </p:cNvPr>
          <p:cNvSpPr txBox="1"/>
          <p:nvPr/>
        </p:nvSpPr>
        <p:spPr>
          <a:xfrm>
            <a:off x="93613" y="3648075"/>
            <a:ext cx="30107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 (a) Slow Axis Map near Laser Drilled Holes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4998D-7021-48EC-6C3A-D2F2E66DD477}"/>
              </a:ext>
            </a:extLst>
          </p:cNvPr>
          <p:cNvSpPr txBox="1"/>
          <p:nvPr/>
        </p:nvSpPr>
        <p:spPr>
          <a:xfrm>
            <a:off x="3885521" y="3626291"/>
            <a:ext cx="23952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 (b) Microscopic Image of Crack</a:t>
            </a:r>
            <a:endParaRPr lang="ko-KR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600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그림 1">
            <a:extLst>
              <a:ext uri="{FF2B5EF4-FFF2-40B4-BE49-F238E27FC236}">
                <a16:creationId xmlns:a16="http://schemas.microsoft.com/office/drawing/2014/main" id="{8B2FB61E-3985-196D-F05A-3F61EBD641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262"/>
          <a:stretch>
            <a:fillRect/>
          </a:stretch>
        </p:blipFill>
        <p:spPr bwMode="auto">
          <a:xfrm>
            <a:off x="4763" y="4764"/>
            <a:ext cx="4217987" cy="1140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1">
            <a:extLst>
              <a:ext uri="{FF2B5EF4-FFF2-40B4-BE49-F238E27FC236}">
                <a16:creationId xmlns:a16="http://schemas.microsoft.com/office/drawing/2014/main" id="{B90F8EE1-A62D-A6E6-5215-1CB2CF0D18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04"/>
          <a:stretch>
            <a:fillRect/>
          </a:stretch>
        </p:blipFill>
        <p:spPr bwMode="auto">
          <a:xfrm>
            <a:off x="5238258" y="0"/>
            <a:ext cx="4217987" cy="1156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AECD0F-5B13-B4ED-4B51-143176F3A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99" y="1936749"/>
            <a:ext cx="18200073" cy="745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A9FB205D-8DE9-9150-890D-1B245A806A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84" t="30812" b="7237"/>
          <a:stretch>
            <a:fillRect/>
          </a:stretch>
        </p:blipFill>
        <p:spPr bwMode="auto">
          <a:xfrm>
            <a:off x="4780878" y="2810718"/>
            <a:ext cx="6760062" cy="258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73094A1-509E-3458-1139-D9D3CDCCD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369784"/>
              </p:ext>
            </p:extLst>
          </p:nvPr>
        </p:nvGraphicFramePr>
        <p:xfrm>
          <a:off x="402865" y="2611225"/>
          <a:ext cx="3970944" cy="2881806"/>
        </p:xfrm>
        <a:graphic>
          <a:graphicData uri="http://schemas.openxmlformats.org/drawingml/2006/table">
            <a:tbl>
              <a:tblPr/>
              <a:tblGrid>
                <a:gridCol w="402280">
                  <a:extLst>
                    <a:ext uri="{9D8B030D-6E8A-4147-A177-3AD203B41FA5}">
                      <a16:colId xmlns:a16="http://schemas.microsoft.com/office/drawing/2014/main" val="3592808232"/>
                    </a:ext>
                  </a:extLst>
                </a:gridCol>
                <a:gridCol w="1026659">
                  <a:extLst>
                    <a:ext uri="{9D8B030D-6E8A-4147-A177-3AD203B41FA5}">
                      <a16:colId xmlns:a16="http://schemas.microsoft.com/office/drawing/2014/main" val="2744876864"/>
                    </a:ext>
                  </a:extLst>
                </a:gridCol>
                <a:gridCol w="591685">
                  <a:extLst>
                    <a:ext uri="{9D8B030D-6E8A-4147-A177-3AD203B41FA5}">
                      <a16:colId xmlns:a16="http://schemas.microsoft.com/office/drawing/2014/main" val="1664237224"/>
                    </a:ext>
                  </a:extLst>
                </a:gridCol>
                <a:gridCol w="1025072">
                  <a:extLst>
                    <a:ext uri="{9D8B030D-6E8A-4147-A177-3AD203B41FA5}">
                      <a16:colId xmlns:a16="http://schemas.microsoft.com/office/drawing/2014/main" val="3954777952"/>
                    </a:ext>
                  </a:extLst>
                </a:gridCol>
                <a:gridCol w="925248">
                  <a:extLst>
                    <a:ext uri="{9D8B030D-6E8A-4147-A177-3AD203B41FA5}">
                      <a16:colId xmlns:a16="http://schemas.microsoft.com/office/drawing/2014/main" val="3958632932"/>
                    </a:ext>
                  </a:extLst>
                </a:gridCol>
              </a:tblGrid>
              <a:tr h="14130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Index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Pulse Energy Level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Pitch (</a:t>
                      </a:r>
                      <a:r>
                        <a:rPr lang="el-GR" sz="900">
                          <a:effectLst/>
                        </a:rPr>
                        <a:t>μ</a:t>
                      </a:r>
                      <a:r>
                        <a:rPr lang="en-US" sz="900">
                          <a:effectLst/>
                        </a:rPr>
                        <a:t>m)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Target Depth (</a:t>
                      </a:r>
                      <a:r>
                        <a:rPr lang="el-GR" sz="900">
                          <a:effectLst/>
                        </a:rPr>
                        <a:t>μ</a:t>
                      </a:r>
                      <a:r>
                        <a:rPr lang="en-US" sz="900">
                          <a:effectLst/>
                        </a:rPr>
                        <a:t>m)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Note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827414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1 (Low)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500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Through-hole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561325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2 (Mid)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500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Through-hole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11384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3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3 (High)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500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Through-hole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23637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4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1 (Low)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500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Through-hole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348905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5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2 (Mid)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500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Through-hole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565931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6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3 (High)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500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Through-hole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024218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7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1 (Low)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400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(80%)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927519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8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2 (Mid)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400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(80%)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90545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9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3 (High)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400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(80%)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273474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1 (Low)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400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(80%)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111298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11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2 (Mid)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400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(80%)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616058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12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3 (High)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400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(80%)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387345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13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1 (Low)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300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(60%)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508549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14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2 (Mid)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300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(60%)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895728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15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3 (High)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20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300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(60%)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004729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16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1 (Low)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300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(60%)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722580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17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2 (Mid)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300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Half-cut (60%)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637586"/>
                  </a:ext>
                </a:extLst>
              </a:tr>
              <a:tr h="9628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18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>
                          <a:effectLst/>
                        </a:rPr>
                        <a:t>3 (High)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10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sz="900">
                          <a:effectLst/>
                        </a:rPr>
                        <a:t>300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Half-cut (60%)</a:t>
                      </a:r>
                    </a:p>
                  </a:txBody>
                  <a:tcPr marL="10886" marR="10886" marT="7257" marB="725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5913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EBC13B5-84DE-A402-8131-AD3AAF8424CC}"/>
              </a:ext>
            </a:extLst>
          </p:cNvPr>
          <p:cNvSpPr txBox="1"/>
          <p:nvPr/>
        </p:nvSpPr>
        <p:spPr>
          <a:xfrm>
            <a:off x="315456" y="2221477"/>
            <a:ext cx="419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1. Experimental Condition of Laser Drilled Holes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21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236</Words>
  <Application>Microsoft Office PowerPoint</Application>
  <PresentationFormat>와이드스크린</PresentationFormat>
  <Paragraphs>99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2025-11-28T23:37:02Z</dcterms:created>
  <dcterms:modified xsi:type="dcterms:W3CDTF">2025-11-29T00:08:36Z</dcterms:modified>
</cp:coreProperties>
</file>