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-57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63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01441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0929" y="406271"/>
            <a:ext cx="8549640" cy="1172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Aft>
                <a:spcPts val="5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Stress-Induced Birefringence Measurement for Crack Detection in Bessel Beam Laser-Drilled Glass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388715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Nakcho Choi, Jeongiin Park, Seongjun Lee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63636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Display Division, Samsung Display Co., Ltd., Giheoung-gu, Yongin-City, Gyeonggi-Do, Korea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51308" y="964"/>
            <a:ext cx="1281559" cy="266734"/>
          </a:xfrm>
          <a:prstGeom prst="roundRect">
            <a:avLst>
              <a:gd name="adj" fmla="val 16260"/>
            </a:avLst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96423" y="14854"/>
            <a:ext cx="10482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#99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1000" y="2102941"/>
            <a:ext cx="8382000" cy="973485"/>
          </a:xfrm>
          <a:prstGeom prst="rect">
            <a:avLst/>
          </a:prstGeom>
          <a:solidFill>
            <a:srgbClr val="F0F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102941"/>
            <a:ext cx="0" cy="973485"/>
          </a:xfrm>
          <a:prstGeom prst="line">
            <a:avLst/>
          </a:prstGeom>
          <a:noFill/>
          <a:ln w="476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9625" y="2204442"/>
            <a:ext cx="7723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625" y="2426643"/>
            <a:ext cx="7723823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presents a non-destructive inspection methodology for detecting latent defects in laser-processed glass used in Under Display Cameras (UDC) and Glass Core Substrates (GCS). Building upon our previous research on microscopic stress-induced retardation in amorphous layers, we apply liquid crystal retardation sensing to visualize stress fields during laser drilling. We demonstrate that peak stress accumulation occurs at partial depths, serving as a precursor to cracks, enabling yield improvement for both advanced displays and semiconductor packaging.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228826"/>
            <a:ext cx="2709416" cy="2110532"/>
          </a:xfrm>
          <a:prstGeom prst="roundRect">
            <a:avLst>
              <a:gd name="adj" fmla="val 180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3228826"/>
            <a:ext cx="2709416" cy="269677"/>
          </a:xfrm>
          <a:prstGeom prst="roundRect">
            <a:avLst>
              <a:gd name="adj" fmla="val 14128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501" y="3292227"/>
            <a:ext cx="2556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950" y="3574703"/>
            <a:ext cx="250462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Characterize stress vs. depth, correlate slow axis with crack trajectories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3856583"/>
            <a:ext cx="2455515" cy="101054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Display-semiconductor convergence demands glass-based manufacturing for UDC and GCS [1, 2]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High-energy pulsed laser induces complex residual stress fields as micro-crack nucleation sites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demonstrated Microscopic Stress-Induced Retardation in thin-film amorphous materials [3]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extends principle to bulk glass substrates subjected to high-energy laser drilling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501" y="5227221"/>
            <a:ext cx="280989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Effective in-line inspection for yield improvement [4, 5]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7366" y="3228826"/>
            <a:ext cx="2709416" cy="2110532"/>
          </a:xfrm>
          <a:prstGeom prst="roundRect">
            <a:avLst>
              <a:gd name="adj" fmla="val 180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17366" y="3228826"/>
            <a:ext cx="2709416" cy="269677"/>
          </a:xfrm>
          <a:prstGeom prst="roundRect">
            <a:avLst>
              <a:gd name="adj" fmla="val 14128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18867" y="3292227"/>
            <a:ext cx="2556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4317" y="3574703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Photoelastic Effect: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44317" y="3734693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stress induces optical anisotropy in isotropic glass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44317" y="4028703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Retardation Equation: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3436" y="4254163"/>
            <a:ext cx="250462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C × (σ₁ - σ₂) × 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44317" y="4445373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2400" y="4714210"/>
            <a:ext cx="2455515" cy="543223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retardation (nm)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Stress-optical coeff. (~3.5 x 10⁻⁶ mm²/N)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(σ₁ - σ₂):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Principal stress difference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Optical path length through stressed region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53733" y="3228826"/>
            <a:ext cx="2709416" cy="2110532"/>
          </a:xfrm>
          <a:prstGeom prst="roundRect">
            <a:avLst>
              <a:gd name="adj" fmla="val 1805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53733" y="3228826"/>
            <a:ext cx="2709416" cy="269677"/>
          </a:xfrm>
          <a:prstGeom prst="roundRect">
            <a:avLst>
              <a:gd name="adj" fmla="val 14128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55234" y="3292227"/>
            <a:ext cx="2556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METHODS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80683" y="3574703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Processing: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80683" y="3734693"/>
            <a:ext cx="2455515" cy="68535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Picosecond pulsed laser at 1064 nm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Bessel beam configuration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energy: Low (1), Mid (2), High (3)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Pitch: 10 and 20 μm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depths: 300, 400, 500 μm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80683" y="4483447"/>
            <a:ext cx="2504626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80683" y="4643438"/>
            <a:ext cx="2455515" cy="40109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Mueller matrix polarimeter (LC cell equipment)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Multi-wavelength: 450, 550, 650 nm</a:t>
            </a:r>
            <a:endParaRPr lang="en-US" sz="800" dirty="0"/>
          </a:p>
          <a:p>
            <a:pPr marL="76200" indent="-762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Retardation magnitude &amp; slow axis orientation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1000" y="5691783"/>
            <a:ext cx="83820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16243" y="5503515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RESULTS: Retardance vs. Pulse Energy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381000" y="7710785"/>
            <a:ext cx="83820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404813" y="7489179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RESULTS: Peak Stress at ~75% Depth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541937" y="7828955"/>
            <a:ext cx="4345532" cy="1090464"/>
          </a:xfrm>
          <a:prstGeom prst="roundRect">
            <a:avLst>
              <a:gd name="adj" fmla="val 3494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1"/>
          <p:cNvSpPr/>
          <p:nvPr/>
        </p:nvSpPr>
        <p:spPr>
          <a:xfrm>
            <a:off x="4565749" y="7828955"/>
            <a:ext cx="0" cy="1090464"/>
          </a:xfrm>
          <a:prstGeom prst="line">
            <a:avLst/>
          </a:prstGeom>
          <a:noFill/>
          <a:ln w="4762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2"/>
          <p:cNvSpPr/>
          <p:nvPr/>
        </p:nvSpPr>
        <p:spPr>
          <a:xfrm>
            <a:off x="4691063" y="7930455"/>
            <a:ext cx="40498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KEY FINDING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4691063" y="8190756"/>
            <a:ext cx="404984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stress occurs at 400 μm (80% depth)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4691063" y="8350746"/>
            <a:ext cx="404984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retardance at 400 μm depth, followed by 500 μm and 300 μm. Stress increases gradually during drilling, then decreases after complete perforation through the 500 μm glass.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4679633" y="8718872"/>
            <a:ext cx="4274820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Bef>
                <a:spcPts val="5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"half-cut" stage represents the critical window for maximum crack initiation risk.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381000" y="9304437"/>
            <a:ext cx="83820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/>
          <p:nvPr/>
        </p:nvSpPr>
        <p:spPr>
          <a:xfrm>
            <a:off x="381000" y="9104412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RESULTS: Slow Axis Predicts Crack Path</a:t>
            </a:r>
            <a:endParaRPr lang="en-US" sz="1100" dirty="0"/>
          </a:p>
        </p:txBody>
      </p:sp>
      <p:sp>
        <p:nvSpPr>
          <p:cNvPr id="55" name="Text 48"/>
          <p:cNvSpPr/>
          <p:nvPr/>
        </p:nvSpPr>
        <p:spPr>
          <a:xfrm>
            <a:off x="6652074" y="9431239"/>
            <a:ext cx="2188494" cy="16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Axis Orientation Analysis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6652074" y="9726711"/>
            <a:ext cx="2278565" cy="360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axis: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Direction of maximum refractive index, </a:t>
            </a:r>
          </a:p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principal tensile stress (σ₁)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6652074" y="10158165"/>
            <a:ext cx="24807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propagation: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Cracks propagate preferentially </a:t>
            </a:r>
          </a:p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perpendicular to slow axis vectors to minimize </a:t>
            </a:r>
          </a:p>
          <a:p>
            <a:pPr marL="0" indent="0" algn="l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energy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381000" y="10770989"/>
            <a:ext cx="8382000" cy="711696"/>
          </a:xfrm>
          <a:prstGeom prst="roundRect">
            <a:avLst>
              <a:gd name="adj" fmla="val 53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762000" y="10847189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DISCUSSION</a:t>
            </a:r>
            <a:endParaRPr lang="en-US" sz="1000" dirty="0"/>
          </a:p>
        </p:txBody>
      </p:sp>
      <p:sp>
        <p:nvSpPr>
          <p:cNvPr id="61" name="Text 54"/>
          <p:cNvSpPr/>
          <p:nvPr/>
        </p:nvSpPr>
        <p:spPr>
          <a:xfrm>
            <a:off x="762000" y="11040814"/>
            <a:ext cx="77724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microscopic stress-induced retardation effect, previously characterized in thin-film heterostructures, operates as a dominant failure mechanism in bulk glass laser processing. The identification of the half-cut stress peak represents a paradigm shift: current protocols optimize for clean through-hole perforation, but the transient condition immediately before breakthrough presents the highest crack initiation risk. This necessitates a fundamental reconsideration of process optimization, shifting focus from final hole quality to stress evolution trajectory management.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381000" y="11657112"/>
            <a:ext cx="8382000" cy="914549"/>
          </a:xfrm>
          <a:prstGeom prst="roundRect">
            <a:avLst>
              <a:gd name="adj" fmla="val 4166"/>
            </a:avLst>
          </a:prstGeom>
          <a:solidFill>
            <a:srgbClr val="E6F7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56"/>
          <p:cNvSpPr/>
          <p:nvPr/>
        </p:nvSpPr>
        <p:spPr>
          <a:xfrm>
            <a:off x="404813" y="11657112"/>
            <a:ext cx="0" cy="914549"/>
          </a:xfrm>
          <a:prstGeom prst="line">
            <a:avLst/>
          </a:prstGeom>
          <a:noFill/>
          <a:ln w="47625">
            <a:solidFill>
              <a:srgbClr val="00AA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/>
          <p:nvPr/>
        </p:nvSpPr>
        <p:spPr>
          <a:xfrm>
            <a:off x="809625" y="11733312"/>
            <a:ext cx="77238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CONCLUSION</a:t>
            </a:r>
            <a:endParaRPr lang="en-US" sz="1000" dirty="0"/>
          </a:p>
        </p:txBody>
      </p:sp>
      <p:sp>
        <p:nvSpPr>
          <p:cNvPr id="65" name="Text 58"/>
          <p:cNvSpPr/>
          <p:nvPr/>
        </p:nvSpPr>
        <p:spPr>
          <a:xfrm>
            <a:off x="809625" y="11926937"/>
            <a:ext cx="7572375" cy="54322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crystal retardation metrology provides a powerful non-destructive method for predicting crack formation in laser-processed glass substrates</a:t>
            </a:r>
            <a:endParaRPr lang="en-US" sz="800" dirty="0"/>
          </a:p>
          <a:p>
            <a:pPr marL="88900" indent="-889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stress accumulation occurs at approximately 75% drilling depth rather than after completion</a:t>
            </a:r>
            <a:endParaRPr lang="en-US" sz="800" dirty="0"/>
          </a:p>
          <a:p>
            <a:pPr marL="88900" indent="-889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axis vector analysis successfully forecasts crack propagation trajectories</a:t>
            </a:r>
            <a:endParaRPr lang="en-US" sz="800" dirty="0"/>
          </a:p>
          <a:p>
            <a:pPr marL="88900" indent="-88900" algn="l">
              <a:lnSpc>
                <a:spcPts val="9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predictive quality control for UDC manufacturing and GCS fabrication in next-generation display and semiconductor packaging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0" y="12501711"/>
            <a:ext cx="9144000" cy="988516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381000" y="12679412"/>
            <a:ext cx="8549640" cy="1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381000" y="12824222"/>
            <a:ext cx="85496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Chen H, Park J, Lee S. Under-Display Camera Technology: Challenges and Solutions for Full-Screen Smartphone Displays. SID Symposium Digest of Technical Papers. 55, 234 (2024)</a:t>
            </a:r>
            <a:endParaRPr lang="en-US" sz="600" dirty="0"/>
          </a:p>
        </p:txBody>
      </p:sp>
      <p:sp>
        <p:nvSpPr>
          <p:cNvPr id="69" name="Text 62"/>
          <p:cNvSpPr/>
          <p:nvPr/>
        </p:nvSpPr>
        <p:spPr>
          <a:xfrm>
            <a:off x="381000" y="12916793"/>
            <a:ext cx="85496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Shorey AB, Cochet M, Bruex E. Glass Substrates for Advanced Packaging: From Interposers to Integrated Fanout. IEEE ECTC, 105 (2023)</a:t>
            </a:r>
            <a:endParaRPr lang="en-US" sz="600" dirty="0"/>
          </a:p>
        </p:txBody>
      </p:sp>
      <p:sp>
        <p:nvSpPr>
          <p:cNvPr id="70" name="Text 63"/>
          <p:cNvSpPr/>
          <p:nvPr/>
        </p:nvSpPr>
        <p:spPr>
          <a:xfrm>
            <a:off x="381000" y="13009364"/>
            <a:ext cx="85496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Choi NC, Yim T, Yoon Y, Cheong B, Hong M. Microscopic-stress-induced retardation between amorphous silicon nitride and amorphous indium zinc oxide having different stresses. Materials Research Express 6, 045209 (2019)</a:t>
            </a:r>
            <a:endParaRPr lang="en-US" sz="600" dirty="0"/>
          </a:p>
        </p:txBody>
      </p:sp>
      <p:sp>
        <p:nvSpPr>
          <p:cNvPr id="71" name="Text 64"/>
          <p:cNvSpPr/>
          <p:nvPr/>
        </p:nvSpPr>
        <p:spPr>
          <a:xfrm>
            <a:off x="381000" y="13101935"/>
            <a:ext cx="85496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Yamamoto K, Nakamura T. Photoelastic Measurement of Residual Stress Distribution in Chemically Strengthened Glass. Journal of Applied Physics. 125, 085102 (2022)</a:t>
            </a:r>
            <a:endParaRPr lang="en-US" sz="600" dirty="0"/>
          </a:p>
        </p:txBody>
      </p:sp>
      <p:sp>
        <p:nvSpPr>
          <p:cNvPr id="72" name="Text 65"/>
          <p:cNvSpPr/>
          <p:nvPr/>
        </p:nvSpPr>
        <p:spPr>
          <a:xfrm>
            <a:off x="381000" y="13194506"/>
            <a:ext cx="85496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Lau JH. Recent Advances and Trends in Advanced Packaging. IEEE Transactions on Components, Packaging and Manufacturing Technology, 12, 228 (2022)</a:t>
            </a:r>
            <a:endParaRPr lang="en-US" sz="600" dirty="0"/>
          </a:p>
          <a:p>
            <a:pPr marL="0" indent="0" algn="l">
              <a:lnSpc>
                <a:spcPts val="630"/>
              </a:lnSpc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Chandrasekhar S. Liquid Crystals, 2nd ed. Cambridge University Press. 121 (1992)</a:t>
            </a:r>
            <a:endParaRPr lang="en-US" sz="600" dirty="0"/>
          </a:p>
        </p:txBody>
      </p:sp>
      <p:sp>
        <p:nvSpPr>
          <p:cNvPr id="73" name="Text 66"/>
          <p:cNvSpPr/>
          <p:nvPr/>
        </p:nvSpPr>
        <p:spPr>
          <a:xfrm>
            <a:off x="0" y="13493948"/>
            <a:ext cx="9144000" cy="222052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297180" y="135573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Acknowledgments: This work was supported by Samsung Display Co., Ltd. | Contact: nakcho.choi@samsung.com | SID Display Week 2026, Los Angeles, CA</a:t>
            </a:r>
            <a:endParaRPr lang="en-US" sz="700" dirty="0"/>
          </a:p>
        </p:txBody>
      </p:sp>
      <p:pic>
        <p:nvPicPr>
          <p:cNvPr id="1026" name="그림 1">
            <a:extLst>
              <a:ext uri="{FF2B5EF4-FFF2-40B4-BE49-F238E27FC236}">
                <a16:creationId xmlns:a16="http://schemas.microsoft.com/office/drawing/2014/main" id="{04968FB7-FD0A-DE4C-2481-B09E777C5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159" y="6013527"/>
            <a:ext cx="3704905" cy="1285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그림 1">
            <a:extLst>
              <a:ext uri="{FF2B5EF4-FFF2-40B4-BE49-F238E27FC236}">
                <a16:creationId xmlns:a16="http://schemas.microsoft.com/office/drawing/2014/main" id="{C058AD63-809F-B1DC-4A77-4CD48A60D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1"/>
          <a:stretch>
            <a:fillRect/>
          </a:stretch>
        </p:blipFill>
        <p:spPr bwMode="auto">
          <a:xfrm>
            <a:off x="256531" y="7836132"/>
            <a:ext cx="422275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그림 1">
            <a:extLst>
              <a:ext uri="{FF2B5EF4-FFF2-40B4-BE49-F238E27FC236}">
                <a16:creationId xmlns:a16="http://schemas.microsoft.com/office/drawing/2014/main" id="{8E270495-D405-4F6D-95AA-50AD383C7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31" y="5834832"/>
            <a:ext cx="4688849" cy="1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그림 1">
            <a:extLst>
              <a:ext uri="{FF2B5EF4-FFF2-40B4-BE49-F238E27FC236}">
                <a16:creationId xmlns:a16="http://schemas.microsoft.com/office/drawing/2014/main" id="{60D37E52-F12C-7FE8-22EA-C5722911E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1" y="9388442"/>
            <a:ext cx="3707307" cy="132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그림 1">
            <a:extLst>
              <a:ext uri="{FF2B5EF4-FFF2-40B4-BE49-F238E27FC236}">
                <a16:creationId xmlns:a16="http://schemas.microsoft.com/office/drawing/2014/main" id="{D14E63FC-6F61-9E5E-E999-64F2E28EF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725" y="9357058"/>
            <a:ext cx="2615291" cy="1334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4359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9F8D7E-9D3A-489B-B3B3-21386619CBA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56aa1f0-8417-4f35-adb7-5a6b2557b4a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843</Words>
  <Application>Microsoft Office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Nakcho Choi</cp:lastModifiedBy>
  <cp:revision>4</cp:revision>
  <dcterms:created xsi:type="dcterms:W3CDTF">2026-04-10T21:12:22Z</dcterms:created>
  <dcterms:modified xsi:type="dcterms:W3CDTF">2026-04-14T14:28:15Z</dcterms:modified>
</cp:coreProperties>
</file>